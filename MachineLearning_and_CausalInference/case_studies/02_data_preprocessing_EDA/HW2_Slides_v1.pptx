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9144000" cy="5143500" type="screen16x9"/>
  <p:notesSz cx="6858000" cy="9144000"/>
  <p:embeddedFontLst>
    <p:embeddedFont>
      <p:font typeface="JetBrains Mono" panose="020B0604020202020204" charset="0"/>
      <p:regular r:id="rId13"/>
      <p:bold r:id="rId14"/>
      <p:italic r:id="rId15"/>
      <p:boldItalic r:id="rId16"/>
    </p:embeddedFont>
    <p:embeddedFont>
      <p:font typeface="Roboto Mono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26" y="53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275592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6922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d9b55b93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d9b55b93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13688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d9b55b938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d9b55b938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222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d9b55b938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d9b55b938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7058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d9b55b938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d9b55b938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5872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d9b55b938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d9b55b938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83593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d9b55b938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d9b55b938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68309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d9b55b938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d9b55b938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46279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d9b55b938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d9b55b938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37024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aa86d152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aa86d152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564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DskAepRD0pfNx32udHG628X0m8fO6pLJ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246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accent2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Онлайн-курс по Machine Learning, </a:t>
            </a:r>
            <a:endParaRPr sz="2000" b="1" dirty="0">
              <a:solidFill>
                <a:schemeClr val="accent2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accent2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Causal Inference и продвинутой проверке гипотез</a:t>
            </a:r>
            <a:endParaRPr sz="2000" b="1" dirty="0">
              <a:solidFill>
                <a:schemeClr val="accent2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accent2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HW2</a:t>
            </a:r>
            <a:endParaRPr sz="32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3341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Nadezhda Turovskaya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311700" y="245325"/>
            <a:ext cx="8520600" cy="457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 b="1" u="sng">
                <a:latin typeface="JetBrains Mono"/>
                <a:ea typeface="JetBrains Mono"/>
                <a:cs typeface="JetBrains Mono"/>
                <a:sym typeface="JetBrains Mono"/>
              </a:rPr>
              <a:t>Задание 1:</a:t>
            </a:r>
            <a:endParaRPr sz="1100" b="1" u="sng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100" b="1" u="sng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Вы работаете в сервисе аренды VIP-жилья по подписке. Продуктовая команда хочет лучше понимать, какие факторы связаны с продлением подписки пользователями.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Для этого на основе датасета </a:t>
            </a:r>
            <a:r>
              <a:rPr lang="en" sz="1100" i="1">
                <a:latin typeface="Roboto Mono"/>
                <a:ea typeface="Roboto Mono"/>
                <a:cs typeface="Roboto Mono"/>
                <a:sym typeface="Roboto Mono"/>
              </a:rPr>
              <a:t>lesson_002_data.csv</a:t>
            </a: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 подготовьте данные для ML-задачи предсказания факта продления подписки (</a:t>
            </a: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Subscribe</a:t>
            </a: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Датасет представлен следующими столбцами: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457200" lvl="0" indent="-291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JetBrains Mono"/>
              <a:buChar char="-"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Customerid - id клиента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457200" lvl="0" indent="-291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JetBrains Mono"/>
              <a:buChar char="-"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Surname - фамилия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457200" lvl="0" indent="-291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JetBrains Mono"/>
              <a:buChar char="-"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model_onboarding_score_1 - скоринг нашей onboarding ML-модели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457200" lvl="0" indent="-291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JetBrains Mono"/>
              <a:buChar char="-"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Geography - регион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457200" lvl="0" indent="-291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JetBrains Mono"/>
              <a:buChar char="-"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Gender - пол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457200" lvl="0" indent="-291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JetBrains Mono"/>
              <a:buChar char="-"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Age - возраст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457200" lvl="0" indent="-291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JetBrains Mono"/>
              <a:buChar char="-"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Periods - срок подписки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457200" lvl="0" indent="-291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JetBrains Mono"/>
              <a:buChar char="-"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Scores - кол-во бонусных баллов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457200" lvl="0" indent="-291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JetBrains Mono"/>
              <a:buChar char="-"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SumOfProducts - кол-во доп. услуг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457200" lvl="0" indent="-291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JetBrains Mono"/>
              <a:buChar char="-"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HasCard - привязана ли кредитная карта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457200" lvl="0" indent="-291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JetBrains Mono"/>
              <a:buChar char="-"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Is Active Member - активно ли пользуется нашим продуктом (&gt;3 использований за последние 2 месяца)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457200" lvl="0" indent="-291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JetBrains Mono"/>
              <a:buChar char="-"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Revenue - кол-во потраченных пользователем денег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457200" lvl="0" indent="-291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JetBrains Mono"/>
              <a:buChar char="-"/>
            </a:pPr>
            <a:r>
              <a:rPr lang="en" sz="1100">
                <a:latin typeface="JetBrains Mono"/>
                <a:ea typeface="JetBrains Mono"/>
                <a:cs typeface="JetBrains Mono"/>
                <a:sym typeface="JetBrains Mono"/>
              </a:rPr>
              <a:t>Subscribe - продлил ли пользователь подписку в следующем месяце</a:t>
            </a:r>
            <a:endParaRPr sz="11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81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</a:t>
            </a:r>
            <a:endParaRPr/>
          </a:p>
        </p:txBody>
      </p:sp>
      <p:sp>
        <p:nvSpPr>
          <p:cNvPr id="66" name="Google Shape;66;p15"/>
          <p:cNvSpPr txBox="1"/>
          <p:nvPr/>
        </p:nvSpPr>
        <p:spPr>
          <a:xfrm>
            <a:off x="646000" y="2420475"/>
            <a:ext cx="30000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07376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Продуктовая команда хочет лучше понимать, какие факторы связаны с продлением подписки пользователями.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8875" y="302575"/>
            <a:ext cx="3657250" cy="24041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4957975" y="2706675"/>
            <a:ext cx="3657300" cy="22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Согласно матрице корреляций, максимально влияющими факторами на продление подписки являются:</a:t>
            </a:r>
            <a:endParaRPr sz="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1">
                <a:solidFill>
                  <a:srgbClr val="1F1F1F"/>
                </a:solidFill>
              </a:rPr>
              <a:t>NumOfProducts</a:t>
            </a:r>
            <a:r>
              <a:rPr lang="en" sz="800">
                <a:solidFill>
                  <a:schemeClr val="dk1"/>
                </a:solidFill>
              </a:rPr>
              <a:t> (0,73)</a:t>
            </a:r>
            <a:endParaRPr sz="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1">
                <a:solidFill>
                  <a:srgbClr val="1F1F1F"/>
                </a:solidFill>
              </a:rPr>
              <a:t>Model_Onboarding_Score_1</a:t>
            </a:r>
            <a:r>
              <a:rPr lang="en" sz="800">
                <a:solidFill>
                  <a:schemeClr val="dk1"/>
                </a:solidFill>
              </a:rPr>
              <a:t> (0,63)</a:t>
            </a:r>
            <a:endParaRPr sz="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1">
                <a:solidFill>
                  <a:srgbClr val="1F1F1F"/>
                </a:solidFill>
              </a:rPr>
              <a:t>HasCard</a:t>
            </a:r>
            <a:r>
              <a:rPr lang="en" sz="800">
                <a:solidFill>
                  <a:schemeClr val="dk1"/>
                </a:solidFill>
              </a:rPr>
              <a:t> (0,61)</a:t>
            </a:r>
            <a:endParaRPr sz="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1">
                <a:solidFill>
                  <a:srgbClr val="1F1F1F"/>
                </a:solidFill>
              </a:rPr>
              <a:t>Age</a:t>
            </a:r>
            <a:r>
              <a:rPr lang="en" sz="800">
                <a:solidFill>
                  <a:schemeClr val="dk1"/>
                </a:solidFill>
              </a:rPr>
              <a:t> (0,29)</a:t>
            </a:r>
            <a:endParaRPr sz="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Слабую положительную корреляцию имеют признаки:</a:t>
            </a:r>
            <a:endParaRPr sz="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1">
                <a:solidFill>
                  <a:srgbClr val="1F1F1F"/>
                </a:solidFill>
              </a:rPr>
              <a:t>Revenue</a:t>
            </a:r>
            <a:r>
              <a:rPr lang="en" sz="800">
                <a:solidFill>
                  <a:schemeClr val="dk1"/>
                </a:solidFill>
              </a:rPr>
              <a:t>  (0,019)</a:t>
            </a:r>
            <a:endParaRPr sz="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1">
                <a:solidFill>
                  <a:srgbClr val="1F1F1F"/>
                </a:solidFill>
              </a:rPr>
              <a:t>IsActiveMember</a:t>
            </a:r>
            <a:r>
              <a:rPr lang="en" sz="800">
                <a:solidFill>
                  <a:schemeClr val="dk1"/>
                </a:solidFill>
              </a:rPr>
              <a:t> (0,016)</a:t>
            </a:r>
            <a:endParaRPr sz="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1">
                <a:solidFill>
                  <a:srgbClr val="1F1F1F"/>
                </a:solidFill>
              </a:rPr>
              <a:t>Scores</a:t>
            </a:r>
            <a:r>
              <a:rPr lang="en" sz="800">
                <a:solidFill>
                  <a:schemeClr val="dk1"/>
                </a:solidFill>
              </a:rPr>
              <a:t> (0,12) </a:t>
            </a:r>
            <a:endParaRPr sz="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слабую отрицательную:</a:t>
            </a:r>
            <a:endParaRPr sz="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1">
                <a:solidFill>
                  <a:srgbClr val="1F1F1F"/>
                </a:solidFill>
              </a:rPr>
              <a:t>Periods</a:t>
            </a:r>
            <a:r>
              <a:rPr lang="en" sz="800">
                <a:solidFill>
                  <a:schemeClr val="dk1"/>
                </a:solidFill>
              </a:rPr>
              <a:t> (</a:t>
            </a:r>
            <a:r>
              <a:rPr lang="en" sz="750">
                <a:solidFill>
                  <a:srgbClr val="1F1F1F"/>
                </a:solidFill>
              </a:rPr>
              <a:t>-0.014</a:t>
            </a:r>
            <a:r>
              <a:rPr lang="en" sz="800">
                <a:solidFill>
                  <a:schemeClr val="dk1"/>
                </a:solidFill>
              </a:rPr>
              <a:t> ).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 title="HW2_slides_Subscribe-by-other-parameters-diagram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0337" y="196275"/>
            <a:ext cx="2395324" cy="482457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81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72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</a:t>
            </a:r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ubTitle" idx="1"/>
          </p:nvPr>
        </p:nvSpPr>
        <p:spPr>
          <a:xfrm>
            <a:off x="265500" y="238602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Если смотреть на дополнительно построенные диаграммы, то можно заметить и другие закономерности:</a:t>
            </a: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2"/>
          </p:nvPr>
        </p:nvSpPr>
        <p:spPr>
          <a:xfrm>
            <a:off x="4824575" y="474275"/>
            <a:ext cx="3951900" cy="43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 конверсия в подписку выше для женщин, чем для мужчин</a:t>
            </a:r>
            <a:endParaRPr sz="1100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 Конверсия в подписку различается в зависимости от географии, выше всего для Германии, ниже всего - для Франции</a:t>
            </a:r>
            <a:endParaRPr sz="1100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3. Признак HasCard существенно повышает конверсию в подписку</a:t>
            </a:r>
            <a:endParaRPr sz="1100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4. Признак IsActiveMember также повышает конверсию в подписку, хотя и заметно меньше, чем HasCard</a:t>
            </a:r>
            <a:endParaRPr sz="1100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100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72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</a:t>
            </a:r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subTitle" idx="1"/>
          </p:nvPr>
        </p:nvSpPr>
        <p:spPr>
          <a:xfrm>
            <a:off x="265500" y="238602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Если смотреть на дополнительно построенные диаграммы, то можно заметить и другие закономерности:</a:t>
            </a:r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2"/>
          </p:nvPr>
        </p:nvSpPr>
        <p:spPr>
          <a:xfrm>
            <a:off x="4939500" y="474275"/>
            <a:ext cx="3837000" cy="43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5. Соотношение конвертаций в подписку к неконвертациям в подписку для всех периодов примерно постоянное, при этом график выходит на насыщение уже в периоде1, следовательно, пользователям достаточно 1 периода, чтобы сориентироваться в решении о конвертации или не-конвертации - и именно в течение этого периода представляется наиболее перспективным влиять на решение пользователей о конвертации в подписку. - Соответственно, точка роста конверсии в подписку - в периоде 1.</a:t>
            </a:r>
            <a:endParaRPr sz="1100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72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</a:t>
            </a:r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ubTitle" idx="1"/>
          </p:nvPr>
        </p:nvSpPr>
        <p:spPr>
          <a:xfrm>
            <a:off x="265500" y="238602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Если смотреть на дополнительно построенные диаграммы, то можно заметить и другие закономерности:</a:t>
            </a:r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body" idx="2"/>
          </p:nvPr>
        </p:nvSpPr>
        <p:spPr>
          <a:xfrm>
            <a:off x="4939500" y="474275"/>
            <a:ext cx="3837000" cy="43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6. Конверсия в подписку максимальна для возрастной группы 46-60, при этом диаграмма распределения возраста пользователей показывает преобладание возрастной группы 26-45 (с выраженным пиком в интервале 31-40), - что говорит о том, что эти 2 группы не совпадают (привлекают не тех, кто платит, а тех, кто смотрит), - из-за чего страдает конверсия, и (как следствие) падает средний LTV на 1 пользователя. - Соответственно, в этом 3 точки роста: привлекать и масштабировать более платежеспособную возрастную группу 46-60, привлекать пользователей с сопоставимо высоким доходом среди возрастной группы 26-45, и/или предлагать для группы 26-45 доступную им ценовую политику для более вероятной конвертации в подписку.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72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</a:t>
            </a:r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ubTitle" idx="1"/>
          </p:nvPr>
        </p:nvSpPr>
        <p:spPr>
          <a:xfrm>
            <a:off x="265500" y="238602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Если смотреть на дополнительно построенные диаграммы, то можно заметить и другие закономерности:</a:t>
            </a:r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body" idx="2"/>
          </p:nvPr>
        </p:nvSpPr>
        <p:spPr>
          <a:xfrm>
            <a:off x="4939500" y="474275"/>
            <a:ext cx="3837000" cy="43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" sz="1100" dirty="0" smtClean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  <a:r>
              <a:rPr lang="en" sz="1100" smtClean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 </a:t>
            </a:r>
            <a:r>
              <a:rPr lang="ru-RU" sz="1100" smtClean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В </a:t>
            </a:r>
            <a:r>
              <a:rPr lang="ru-RU" sz="1100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диаграммах </a:t>
            </a:r>
            <a:r>
              <a:rPr lang="ru-RU" sz="1100" dirty="0" err="1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Revenue</a:t>
            </a:r>
            <a:r>
              <a:rPr lang="ru-RU" sz="1100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ru-RU" sz="1100" dirty="0" err="1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by</a:t>
            </a:r>
            <a:r>
              <a:rPr lang="ru-RU" sz="1100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ru-RU" sz="1100" dirty="0" err="1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</a:t>
            </a:r>
            <a:r>
              <a:rPr lang="ru-RU" sz="1100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для мужчин и женщин есть различия: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ru-RU" sz="1100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у женщин более разреженное распределение точек и с менее выраженным максимумом по частоте использования в определенном диапазоне возрастов, чем у мужчин - т.е. </a:t>
            </a:r>
            <a:r>
              <a:rPr lang="ru-RU" sz="1100" dirty="0" err="1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Revenue</a:t>
            </a:r>
            <a:r>
              <a:rPr lang="ru-RU" sz="1100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для женщин слабо привязано к целевой аудитории по признаку возраста, в то время как среди мужчин есть целевая аудитория по признаку возраста.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ru-RU" sz="1100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для женщин диапазон наиболее частого использования сервиса лежит между 25-50 годами (с наибольшим сгущением точек в возрасте 35-40), для мужчин - в диапазоне 25-45 (с наибольшим сгущением точек в возрасте 30-40). Соответственно, эти гендерно-возрастные группы можно рассматривать как наиболее заинтересованные и откликающиеся на монетизацию (</a:t>
            </a:r>
            <a:r>
              <a:rPr lang="ru-RU" sz="1100" dirty="0" err="1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Revenue</a:t>
            </a:r>
            <a:r>
              <a:rPr lang="ru-RU" sz="1100" dirty="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сервиса.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632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>
            <a:spLocks noGrp="1"/>
          </p:cNvSpPr>
          <p:nvPr>
            <p:ph type="title"/>
          </p:nvPr>
        </p:nvSpPr>
        <p:spPr>
          <a:xfrm>
            <a:off x="265500" y="1135050"/>
            <a:ext cx="4045200" cy="81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</a:t>
            </a:r>
            <a:endParaRPr/>
          </a:p>
        </p:txBody>
      </p:sp>
      <p:sp>
        <p:nvSpPr>
          <p:cNvPr id="101" name="Google Shape;101;p20"/>
          <p:cNvSpPr txBox="1"/>
          <p:nvPr/>
        </p:nvSpPr>
        <p:spPr>
          <a:xfrm>
            <a:off x="646000" y="2306000"/>
            <a:ext cx="30000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07376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Продуктовая команда хочет лучше понимать, какие факторы связаны с продлением подписки пользователями.</a:t>
            </a:r>
            <a:endParaRPr/>
          </a:p>
        </p:txBody>
      </p:sp>
      <p:sp>
        <p:nvSpPr>
          <p:cNvPr id="102" name="Google Shape;102;p20"/>
          <p:cNvSpPr txBox="1"/>
          <p:nvPr/>
        </p:nvSpPr>
        <p:spPr>
          <a:xfrm>
            <a:off x="4751000" y="2431950"/>
            <a:ext cx="4203000" cy="27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89" dirty="0">
                <a:solidFill>
                  <a:srgbClr val="1F1F1F"/>
                </a:solidFill>
                <a:highlight>
                  <a:srgbClr val="FFFFFF"/>
                </a:highlight>
              </a:rPr>
              <a:t>На 3D диаграмме Periods, Scores, Revenue </a:t>
            </a:r>
            <a:endParaRPr sz="889" dirty="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89" dirty="0">
                <a:solidFill>
                  <a:srgbClr val="1F1F1F"/>
                </a:solidFill>
                <a:highlight>
                  <a:srgbClr val="FFFFFF"/>
                </a:highlight>
              </a:rPr>
              <a:t>видно, что бонусные баллы части пользователей - даже с длинными периодами и высоким Revenue - не начислялись: этих пользователей представляет закрашенная точками плоскость с Scores=0, на которой преобладает фиолетовый цвет (Subscribe==0), в то время как у пользователей, которым бонусные баллы начислялись, больше удельный процент точек желтого цвета (Subscribe==1) в рассеянном объеме.</a:t>
            </a:r>
            <a:endParaRPr sz="889" dirty="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889" dirty="0">
                <a:solidFill>
                  <a:srgbClr val="1F1F1F"/>
                </a:solidFill>
                <a:highlight>
                  <a:srgbClr val="FFFFFF"/>
                </a:highlight>
              </a:rPr>
              <a:t>Subscribe==0 для заметной части пользователей коррелирует с неначислением им бонусных баллов (некорректная работа сервиса - ? / баги в продакшене - ?), что повлекло отток пользователей вследствие негативного клиентского опыта.</a:t>
            </a:r>
            <a:endParaRPr sz="889" dirty="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89" dirty="0">
                <a:solidFill>
                  <a:srgbClr val="1F1F1F"/>
                </a:solidFill>
                <a:highlight>
                  <a:srgbClr val="FFFFFF"/>
                </a:highlight>
              </a:rPr>
              <a:t>Соответственно, можно ожидать рост конвертации клиентов в Subscribe==1 при корректном начислении бонусных баллов и недопущении выпуска в продакшен продукта низкого качества (с багами, обсчитывающими клиентов).  </a:t>
            </a:r>
            <a:endParaRPr sz="889" dirty="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  <p:pic>
        <p:nvPicPr>
          <p:cNvPr id="103" name="Google Shape;103;p20" title="HW2_slides_Periods-Scores-Revenue-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2400" y="106375"/>
            <a:ext cx="2652399" cy="232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 to Colab:</a:t>
            </a:r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en-US" smtClean="0">
                <a:hlinkClick r:id="rId3"/>
              </a:rPr>
              <a:t>https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colab.research.google.com/drive/1DskAepRD0pfNx32udHG628X0m8fO6pLJ</a:t>
            </a:r>
            <a:r>
              <a:rPr lang="en-US" dirty="0" smtClean="0"/>
              <a:t>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797</Words>
  <Application>Microsoft Office PowerPoint</Application>
  <PresentationFormat>On-screen Show (16:9)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JetBrains Mono</vt:lpstr>
      <vt:lpstr>Roboto Mono</vt:lpstr>
      <vt:lpstr>Arial</vt:lpstr>
      <vt:lpstr>Simple Light</vt:lpstr>
      <vt:lpstr>Онлайн-курс по Machine Learning,  Causal Inference и продвинутой проверке гипотез   HW2</vt:lpstr>
      <vt:lpstr>Задание 1:  Вы работаете в сервисе аренды VIP-жилья по подписке. Продуктовая команда хочет лучше понимать, какие факторы связаны с продлением подписки пользователями.  Для этого на основе датасета lesson_002_data.csv подготовьте данные для ML-задачи предсказания факта продления подписки (Subscribe)  Датасет представлен следующими столбцами:  Customerid - id клиента Surname - фамилия model_onboarding_score_1 - скоринг нашей onboarding ML-модели Geography - регион Gender - пол Age - возраст Periods - срок подписки Scores - кол-во бонусных баллов SumOfProducts - кол-во доп. услуг HasCard - привязана ли кредитная карта Is Active Member - активно ли пользуется нашим продуктом (&gt;3 использований за последние 2 месяца) Revenue - кол-во потраченных пользователем денег Subscribe - продлил ли пользователь подписку в следующем месяце </vt:lpstr>
      <vt:lpstr>Insights</vt:lpstr>
      <vt:lpstr>Insights</vt:lpstr>
      <vt:lpstr>Insights</vt:lpstr>
      <vt:lpstr>Insights</vt:lpstr>
      <vt:lpstr>Insights</vt:lpstr>
      <vt:lpstr>Insights</vt:lpstr>
      <vt:lpstr>Insights</vt:lpstr>
      <vt:lpstr>Link to Colab: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Онлайн-курс по Machine Learning,  Causal Inference и продвинутой проверке гипотез   HW2</dc:title>
  <dc:creator>NT</dc:creator>
  <cp:lastModifiedBy>NT</cp:lastModifiedBy>
  <cp:revision>3</cp:revision>
  <dcterms:modified xsi:type="dcterms:W3CDTF">2026-06-23T07:02:41Z</dcterms:modified>
</cp:coreProperties>
</file>
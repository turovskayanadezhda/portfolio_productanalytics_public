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JetBrains Mono" panose="020B0604020202020204" charset="0"/>
      <p:regular r:id="rId20"/>
      <p:bold r:id="rId21"/>
      <p:italic r:id="rId22"/>
      <p:boldItalic r:id="rId23"/>
    </p:embeddedFont>
    <p:embeddedFont>
      <p:font typeface="Georgia" panose="02040502050405020303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2C3410-21D6-46F6-85D5-1A42DD9BCE7F}">
  <a:tblStyle styleId="{DC2C3410-21D6-46F6-85D5-1A42DD9BCE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26" y="5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97643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5060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9b55b9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d9b55b9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5168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81fe9a44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81fe9a44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1794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81fe9a44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81fe9a44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9124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1fe9a44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81fe9a44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738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1fe9a441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81fe9a441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48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1fe9a441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81fe9a441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1871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81fe9a441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81fe9a441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864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81fe9a441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81fe9a441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7263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81fe9a441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81fe9a441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58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81fe9a441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81fe9a441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863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81fe9a44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81fe9a44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122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81fe9a441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81fe9a441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716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81fe9a441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81fe9a441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6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81fe9a441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81fe9a441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1633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81fe9a44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81fe9a44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6305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aa86d15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aa86d15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637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YLyUMkToeXdyZDPIusSRqMf8kEF2osoi#scrollTo=Gs07nIT7KSNX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46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Онлайн-курс по Machine Learning, </a:t>
            </a:r>
            <a:endParaRPr sz="2000" b="1">
              <a:solidFill>
                <a:schemeClr val="accent2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accent2"/>
                </a:solidFill>
                <a:highlight>
                  <a:srgbClr val="FFFFFF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Causal Inference и продвинутой проверке гипотез</a:t>
            </a:r>
            <a:endParaRPr sz="2000" b="1">
              <a:solidFill>
                <a:schemeClr val="accent2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accent2"/>
              </a:solidFill>
              <a:highlight>
                <a:srgbClr val="FFFFFF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HW4</a:t>
            </a:r>
            <a:endParaRPr sz="32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341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Nadezhda Turovskaya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245325"/>
            <a:ext cx="8520600" cy="28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u="sng">
                <a:latin typeface="JetBrains Mono"/>
                <a:ea typeface="JetBrains Mono"/>
                <a:cs typeface="JetBrains Mono"/>
                <a:sym typeface="JetBrains Mono"/>
              </a:rPr>
              <a:t>Задание 1:</a:t>
            </a:r>
            <a:endParaRPr sz="1100" b="1" u="sng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u="sng"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Подумайте над бизнесовой составляющей: стоимости и expected value верных и неверных прогнозов. Выразите это в оптимизации моделей и обоснуйте.</a:t>
            </a: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Подумайте над функцией потерь. Обоснуйте, почему именно она</a:t>
            </a: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Определите метрики качества. Обоснуйте, почему именно они</a:t>
            </a: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Попробуйте повысить качество модели с учетом новых метрик</a:t>
            </a: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(Опционально) Попробуйте откалибровать вероятности логистической регрессии</a:t>
            </a: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Бизнесовая составляющая: </a:t>
            </a:r>
            <a:endParaRPr sz="1100" b="1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стоимость и expected value верных и неверных прогнозов.</a:t>
            </a:r>
            <a:endParaRPr b="1"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3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1F1F1F"/>
                </a:solidFill>
              </a:rPr>
              <a:t>C_retention</a:t>
            </a:r>
            <a:r>
              <a:rPr lang="en" sz="900">
                <a:solidFill>
                  <a:srgbClr val="1F1F1F"/>
                </a:solidFill>
              </a:rPr>
              <a:t> — стоимость удержания (затраты на акцию/предложение), </a:t>
            </a:r>
            <a:r>
              <a:rPr lang="en" sz="900" b="1">
                <a:solidFill>
                  <a:srgbClr val="1F1F1F"/>
                </a:solidFill>
              </a:rPr>
              <a:t>R_retention</a:t>
            </a:r>
            <a:r>
              <a:rPr lang="en" sz="900">
                <a:solidFill>
                  <a:srgbClr val="1F1F1F"/>
                </a:solidFill>
              </a:rPr>
              <a:t> — чистая приведённая прибыль от удержанного клиента.</a:t>
            </a:r>
            <a:endParaRPr sz="9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Возможные кейсы (</a:t>
            </a:r>
            <a:r>
              <a:rPr lang="en" sz="1000" b="1">
                <a:solidFill>
                  <a:schemeClr val="dk1"/>
                </a:solidFill>
              </a:rPr>
              <a:t>Subscribe: 1 = продлит, 0 = не продлит</a:t>
            </a:r>
            <a:r>
              <a:rPr lang="en" sz="10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100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425375" y="1472950"/>
          <a:ext cx="7978700" cy="3605634"/>
        </p:xfrm>
        <a:graphic>
          <a:graphicData uri="http://schemas.openxmlformats.org/drawingml/2006/table">
            <a:tbl>
              <a:tblPr>
                <a:noFill/>
                <a:tableStyleId>{DC2C3410-21D6-46F6-85D5-1A42DD9BCE7F}</a:tableStyleId>
              </a:tblPr>
              <a:tblGrid>
                <a:gridCol w="1994675"/>
                <a:gridCol w="1994675"/>
                <a:gridCol w="1994675"/>
                <a:gridCol w="1994675"/>
              </a:tblGrid>
              <a:tr h="325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5000"/>
                        </a:lnSpc>
                        <a:spcBef>
                          <a:spcPts val="18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1000" b="1">
                          <a:solidFill>
                            <a:srgbClr val="1F1F1F"/>
                          </a:solidFill>
                        </a:rPr>
                        <a:t>TP / TN / FP / FN кейсы</a:t>
                      </a:r>
                      <a:endParaRPr sz="10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F1F1F"/>
                          </a:solidFill>
                        </a:rPr>
                        <a:t>Интерпретация</a:t>
                      </a:r>
                      <a:endParaRPr sz="10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F1F1F"/>
                          </a:solidFill>
                        </a:rPr>
                        <a:t>Бизнес‑эффект </a:t>
                      </a:r>
                      <a:endParaRPr sz="10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1F1F1F"/>
                          </a:solidFill>
                        </a:rPr>
                        <a:t>Формула </a:t>
                      </a:r>
                      <a:endParaRPr sz="10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837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TP</a:t>
                      </a:r>
                      <a:endParaRPr sz="9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модель = 1, истинно = 1</a:t>
                      </a:r>
                      <a:endParaRPr sz="900" b="1"/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модель предсказала, что клиент продлит, и он действительно продлил 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ничего не делаем; экономия по сравнению с политикой «удерживать всех» (сэкономленный C_retention). Чистый эффект ≈ 0 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эффект = 0 </a:t>
                      </a:r>
                      <a:endParaRPr sz="900"/>
                    </a:p>
                  </a:txBody>
                  <a:tcPr marL="91425" marR="91425" marT="91425" marB="91425"/>
                </a:tc>
              </a:tr>
              <a:tr h="759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TN</a:t>
                      </a:r>
                      <a:endParaRPr sz="9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модель = 0, истинно = 0</a:t>
                      </a:r>
                      <a:endParaRPr sz="900" b="1"/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модель верно пометила клиента как уходящего; запускаем удерживающую акцию 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при успехе удержания получаем R_retention − C_retention; </a:t>
                      </a:r>
                      <a:endParaRPr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при неуспехе теряем −C_retention 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EV_TN = p_success * (R_retention − C_retention) + (1 − p_success) * (−C_retention) </a:t>
                      </a:r>
                      <a:endParaRPr sz="900"/>
                    </a:p>
                  </a:txBody>
                  <a:tcPr marL="91425" marR="91425" marT="91425" marB="91425"/>
                </a:tc>
              </a:tr>
              <a:tr h="759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FP</a:t>
                      </a:r>
                      <a:endParaRPr sz="9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модель = 1, истинно = 0</a:t>
                      </a:r>
                      <a:endParaRPr sz="900" b="1"/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модель предсказала, что клиент продлит, но он ушёл; по сигналу модели ничего не делали 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упущенная прибыль от утраченного продления ≈ −R_retention (с учётом, что C_retention не потрачен) 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эффект ≈ −R_retention </a:t>
                      </a:r>
                      <a:endParaRPr sz="900"/>
                    </a:p>
                  </a:txBody>
                  <a:tcPr marL="91425" marR="91425" marT="91425" marB="91425"/>
                </a:tc>
              </a:tr>
              <a:tr h="759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FN </a:t>
                      </a:r>
                      <a:endParaRPr sz="9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модель = 0, истинно = 1</a:t>
                      </a:r>
                      <a:endParaRPr sz="900" b="1"/>
                    </a:p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модель пометила клиента как уходящего, но он бы сам продлил; вы зря применили акцию 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потрачены ресурсы на ненужную акцию, стоимость ≈ −C_false_positive </a:t>
                      </a:r>
                      <a:endParaRPr sz="9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(обычно ≈ −C_retention) 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эффект ≈ −C_false_positive </a:t>
                      </a:r>
                      <a:endParaRPr sz="9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Бизнесовая составляющая: </a:t>
            </a:r>
            <a:endParaRPr sz="1100" b="1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стоимость и expected value верных и неверных прогнозов.</a:t>
            </a:r>
            <a:endParaRPr b="1"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3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1F1F1F"/>
                </a:solidFill>
              </a:rPr>
              <a:t>Формула для суммарной ожидаемой выгоды ExpectedValue (EV):</a:t>
            </a:r>
            <a:endParaRPr sz="100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Обозначения: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N — число клиентов, 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p — доля реальных уходов (subscribe = 0), 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sensitivity0 — доля уходов, правильно пойманных моделью (recall для класса 0), 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FPR0 — доля остающихся, ошибочно помеченных как уходящие, 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C_retention, 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R_retention, 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p_success, 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C_false_positive.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Числа случаев: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N_TN = N * p * sensitivity0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N_FN = N * p * (1 − sensitivity0)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N_FP = N * (1 − p) * FPR0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N_TP = N * (1 − p) * (1 − FPR0)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</a:rPr>
              <a:t>Ожидаемая выгода ExpectedValue:</a:t>
            </a:r>
            <a:endParaRPr sz="100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</a:rPr>
              <a:t>EV_total = N_TN * EV_TN + N_FP * (−C_false_positive) + N_FN * (−R_retention) + N_TP * 0</a:t>
            </a:r>
            <a:endParaRPr sz="100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где EV_TN = p_success * (R_retention − C_retention) + (1 − p_success) * (−C_retention)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</a:rPr>
              <a:t>Если EV &gt; 0 — решение в среднем выгодно; если EV &lt; 0 — в среднем убыточно. </a:t>
            </a:r>
            <a:br>
              <a:rPr lang="en" sz="1050">
                <a:solidFill>
                  <a:srgbClr val="000000"/>
                </a:solidFill>
              </a:rPr>
            </a:br>
            <a:r>
              <a:rPr lang="en" sz="1050">
                <a:solidFill>
                  <a:srgbClr val="000000"/>
                </a:solidFill>
              </a:rPr>
              <a:t>Цель: оптимизировать модель и порог решения так, чтобы </a:t>
            </a:r>
            <a:r>
              <a:rPr lang="en" sz="1050" b="1">
                <a:solidFill>
                  <a:srgbClr val="000000"/>
                </a:solidFill>
              </a:rPr>
              <a:t>EV_total</a:t>
            </a:r>
            <a:r>
              <a:rPr lang="en" sz="1050">
                <a:solidFill>
                  <a:srgbClr val="000000"/>
                </a:solidFill>
              </a:rPr>
              <a:t> (сумма EV по всем клиентам) была максимальна. </a:t>
            </a:r>
            <a:endParaRPr sz="105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Бизнесовая составляющая: </a:t>
            </a:r>
            <a:endParaRPr sz="1100" b="1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стоимость и expected value верных и неверных прогнозов.</a:t>
            </a:r>
            <a:endParaRPr b="1"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1F1F1F"/>
                </a:solidFill>
              </a:rPr>
              <a:t>Ожидаемая выгода ExpectedValue:</a:t>
            </a:r>
            <a:endParaRPr sz="100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EV_total = N * (p0 * recall_churn * (p_success * (R_retention - C_retention) + (1 - p_success) * (-C_retention)) - p0 * (1 - recall_churn) * R_retention - p1 * FPR_loyal * C_false_positive)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</a:rPr>
              <a:t>p1 = 1 - p0</a:t>
            </a:r>
            <a:endParaRPr sz="10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C_false_positive = стоимость скидки + стоимость времени менеджера + коммуникационные расходы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Обычно: 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C_false_positive = C_retention</a:t>
            </a:r>
            <a:r>
              <a:rPr lang="en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p_success - это гипотеза о вероятности успеха удержания (уточняется по результатам А/В теста).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До А/В теста принимается обычно 0,3 (0,2-0,4), консервативная оценка </a:t>
            </a:r>
            <a:r>
              <a:rPr lang="en" sz="900">
                <a:solidFill>
                  <a:schemeClr val="dk1"/>
                </a:solidFill>
              </a:rPr>
              <a:t>p_success=</a:t>
            </a:r>
            <a:r>
              <a:rPr lang="en" sz="900">
                <a:solidFill>
                  <a:srgbClr val="000000"/>
                </a:solidFill>
              </a:rPr>
              <a:t>0,2.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F1F1F"/>
                </a:solidFill>
              </a:rPr>
              <a:t>recall_churn = TN / (TN + FP) </a:t>
            </a:r>
            <a:endParaRPr sz="9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F1F1F"/>
                </a:solidFill>
              </a:rPr>
              <a:t>где TN = модель=0/факт=0, FP = модель=1/факт=0</a:t>
            </a:r>
            <a:endParaRPr sz="90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</a:rPr>
              <a:t>EV_total = TN * (p_success * R_retention - C_retention) - FP * R_retention - FN * C_retention</a:t>
            </a:r>
            <a:endParaRPr sz="10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 </a:t>
            </a:r>
            <a:endParaRPr sz="10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Где:</a:t>
            </a:r>
            <a:endParaRPr sz="9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    TN = модель=0, факт=0 (правильно предсказанные уходы)</a:t>
            </a:r>
            <a:endParaRPr sz="9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    FP = модель=1, факт=0 (упущенные уходы)</a:t>
            </a:r>
            <a:endParaRPr sz="9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    FN = модель=0, факт=1 (ложные срабатывания)</a:t>
            </a:r>
            <a:endParaRPr sz="9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    p_success = вероятность успеха удержания (гипотеза, например 0.20)</a:t>
            </a:r>
            <a:endParaRPr sz="9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    R_retention = чистая прибыль от удержанного клиента</a:t>
            </a:r>
            <a:endParaRPr sz="9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000000"/>
                </a:solidFill>
              </a:rPr>
              <a:t>    C_retention = стоимость удержания (акция/скидка/время менеджера) </a:t>
            </a:r>
            <a:endParaRPr sz="95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Бизнесовая составляющая: </a:t>
            </a:r>
            <a:endParaRPr sz="1100" b="1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стоимость и expected value верных и неверных прогнозов.</a:t>
            </a:r>
            <a:endParaRPr b="1"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3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50" b="1">
                <a:solidFill>
                  <a:srgbClr val="1F1F1F"/>
                </a:solidFill>
              </a:rPr>
              <a:t>Ожидаемая выгода ExpectedValue:</a:t>
            </a:r>
            <a:endParaRPr sz="125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b="1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>
                <a:solidFill>
                  <a:srgbClr val="000000"/>
                </a:solidFill>
              </a:rPr>
              <a:t>EV_total = TN * (p_success * R_retention - C_retention) - FP * R_retention - FN * C_retention </a:t>
            </a:r>
            <a:endParaRPr sz="125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00"/>
                </a:solidFill>
              </a:rPr>
              <a:t>Если EV &gt; 0 — решение выгодно; если EV &lt; 0 — убыточно. </a:t>
            </a:r>
            <a:br>
              <a:rPr lang="en" sz="1250">
                <a:solidFill>
                  <a:srgbClr val="000000"/>
                </a:solidFill>
              </a:rPr>
            </a:br>
            <a:r>
              <a:rPr lang="en" sz="1250" b="1">
                <a:solidFill>
                  <a:srgbClr val="000000"/>
                </a:solidFill>
              </a:rPr>
              <a:t>Цель:</a:t>
            </a:r>
            <a:r>
              <a:rPr lang="en" sz="1250">
                <a:solidFill>
                  <a:srgbClr val="000000"/>
                </a:solidFill>
              </a:rPr>
              <a:t> </a:t>
            </a:r>
            <a:endParaRPr sz="12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00"/>
                </a:solidFill>
              </a:rPr>
              <a:t>оптимизировать модель и порог решения так, чтобы </a:t>
            </a:r>
            <a:r>
              <a:rPr lang="en" sz="1250" b="1">
                <a:solidFill>
                  <a:srgbClr val="000000"/>
                </a:solidFill>
              </a:rPr>
              <a:t>EV_total</a:t>
            </a:r>
            <a:r>
              <a:rPr lang="en" sz="1250">
                <a:solidFill>
                  <a:srgbClr val="000000"/>
                </a:solidFill>
              </a:rPr>
              <a:t> (сумма EV по всем клиентам) была максимальна. </a:t>
            </a:r>
            <a:endParaRPr sz="12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i="1" u="sng">
                <a:solidFill>
                  <a:srgbClr val="000000"/>
                </a:solidFill>
              </a:rPr>
              <a:t>Предположения:</a:t>
            </a:r>
            <a:endParaRPr sz="1050" i="1" u="sng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Mean_revenue_subscribe1 = 100000 (округленно до тысяч) - из датасета</a:t>
            </a: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2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R_retention = mean_revenue_subscribe1 * </a:t>
            </a:r>
            <a:r>
              <a:rPr lang="en" sz="1050">
                <a:solidFill>
                  <a:srgbClr val="116644"/>
                </a:solidFill>
                <a:highlight>
                  <a:srgbClr val="FFFFFF"/>
                </a:highlight>
              </a:rPr>
              <a:t>0.30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  = 30000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# маржа 30%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C_retention = mean_revenue_subscribe1 * </a:t>
            </a:r>
            <a:r>
              <a:rPr lang="en" sz="1050">
                <a:solidFill>
                  <a:srgbClr val="116644"/>
                </a:solidFill>
                <a:highlight>
                  <a:srgbClr val="FFFFFF"/>
                </a:highlight>
              </a:rPr>
              <a:t>0.10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  = 10000   </a:t>
            </a: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</a:rPr>
              <a:t># скидка 10%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Cоотношение R_retention / C_retention = 1:</a:t>
            </a:r>
            <a:r>
              <a:rPr lang="en" sz="1000">
                <a:solidFill>
                  <a:schemeClr val="dk1"/>
                </a:solidFill>
              </a:rPr>
              <a:t>p_success</a:t>
            </a:r>
            <a:r>
              <a:rPr lang="en" sz="1000">
                <a:solidFill>
                  <a:srgbClr val="000000"/>
                </a:solidFill>
              </a:rPr>
              <a:t> — означает, что удержание выгодно, если вероятность успеха &gt; p_success.</a:t>
            </a:r>
            <a:endParaRPr sz="1050">
              <a:solidFill>
                <a:srgbClr val="008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p_success=0,2-0,4 - предварительная интервальная оценка.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Итого формула для оптимизации:</a:t>
            </a:r>
            <a:endParaRPr sz="125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>
                <a:solidFill>
                  <a:srgbClr val="000000"/>
                </a:solidFill>
              </a:rPr>
              <a:t>EV_total = TN * (p_success * 30000 - 10000) - FP * 30000 - FN * 10000</a:t>
            </a:r>
            <a:endParaRPr sz="125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00"/>
                </a:solidFill>
              </a:rPr>
              <a:t>Вывод:</a:t>
            </a:r>
            <a:endParaRPr sz="12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00"/>
                </a:solidFill>
              </a:rPr>
              <a:t>    - При p_success &lt; 33.3% удержание не выгодно (EV на TN отрицательный)</a:t>
            </a:r>
            <a:endParaRPr sz="12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00"/>
                </a:solidFill>
              </a:rPr>
              <a:t>    - При p_success &gt; 33.3% удержание выгодно (EV на TN положительный) </a:t>
            </a:r>
            <a:endParaRPr sz="105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Бизнесовая составляющая: </a:t>
            </a:r>
            <a:endParaRPr sz="1100" b="1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стоимость и expected value верных и неверных прогнозов.</a:t>
            </a:r>
            <a:endParaRPr b="1"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3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50" b="1">
                <a:solidFill>
                  <a:srgbClr val="000000"/>
                </a:solidFill>
              </a:rPr>
              <a:t>EV_total = TN * (p_success * 30000 - 10000) - FP * 30000 - FN * 10000</a:t>
            </a:r>
            <a:endParaRPr sz="125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Какой p_success выбрать? 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Общий подход: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1) Консервативная гипотеза (если нет данных):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p_success = 0.20 (20%) — консервативная оценка для первой итерации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(у нас EV на TN отрицательный, удержание НЕ выгодно при этой гипотезе)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2) Реалистичная гипотеза для VIP-аренды: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p_success = 0.30–0.40 (30–40%) — для премиум-сегмента с персональными предложениями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(у нас при p_success = 0.35 EV на TN положительный (+500) - можно использовать)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3) Рекомендация в общем случае: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Начать с p_success = 0.30 (30%) - баланс между консервативностью и реалистичностью. 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00"/>
                </a:solidFill>
              </a:rPr>
              <a:t>Однако, по нашим данным, при p_success &lt; 33.3% удержание не выгодно. Какие есть варианты?</a:t>
            </a:r>
            <a:endParaRPr sz="105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Бизнесовая составляющая: </a:t>
            </a:r>
            <a:endParaRPr sz="1100" b="1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стоимость и expected value верных и неверных прогнозов.</a:t>
            </a:r>
            <a:endParaRPr b="1"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3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При p_success &lt; 33.3% удержание не выгодно! (А маржинальность 30% оставляет низкую дельту прибыли).</a:t>
            </a:r>
            <a:endParaRPr sz="125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000000"/>
                </a:solidFill>
              </a:rPr>
              <a:t>Какие у бизнеса есть варианты?</a:t>
            </a:r>
            <a:endParaRPr sz="12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1) Либо снизить C_retention (стоимость акции):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  - Если C_retention = 8000 вместо 10000: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    критический порог = 8000 / 30000 = 26.7%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    → при p_success = 30% удержание уже выгодно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2) Либо повысить R_retention (увеличить LTV клиента):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  - Если R_retention = 40000 вместо 30000: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    критический порог = 10000 / 40000 = 25%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    → при p_success = 30% удержание уже выгодно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3) Либо сделать удерживающую акцию более эффективной (повысить p_success):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  - Персонализированные предложения, более сильные скидки, сегментация клиентов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   - Цель: поднять p_success до 35%+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4) Либо вообще не запускать удержание, если не получится достичь p_success &gt; 33.3% </a:t>
            </a:r>
            <a:endParaRPr sz="125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Бизнесовая составляющая: </a:t>
            </a:r>
            <a:endParaRPr sz="1100" b="1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стоимость и expected value верных и неверных прогнозов.</a:t>
            </a:r>
            <a:endParaRPr b="1"/>
          </a:p>
        </p:txBody>
      </p:sp>
      <p:sp>
        <p:nvSpPr>
          <p:cNvPr id="103" name="Google Shape;103;p21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3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Остановимся на варианте 3:  </a:t>
            </a:r>
            <a:r>
              <a:rPr lang="en" sz="1050">
                <a:solidFill>
                  <a:srgbClr val="000000"/>
                </a:solidFill>
              </a:rPr>
              <a:t>p_success</a:t>
            </a:r>
            <a:r>
              <a:rPr lang="en" sz="1100">
                <a:solidFill>
                  <a:srgbClr val="000000"/>
                </a:solidFill>
              </a:rPr>
              <a:t> = 0,35</a:t>
            </a: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</a:rPr>
              <a:t>EV_total = TN * 500 - FP * 30000 - FN * 10000</a:t>
            </a:r>
            <a:endParaRPr sz="10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Где: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 TN = модель=0, факт=0 (правильно предсказанные уходы)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 FP = модель=1, факт=0 (упущенные уходы)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 FN = модель=0, факт=1 (ложные срабатывания)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Интерпретация: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 - Каждый TN приносит +500 (удержание сработало)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 - Каждый FP стоит -30000 (упущенная прибыль от клиента, который ушёл)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    - Каждый FN стоит -10000 (зря потраченная акция на клиента, который бы и так продлил) 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Наиболее критично - </a:t>
            </a:r>
            <a:r>
              <a:rPr lang="en" sz="1000">
                <a:solidFill>
                  <a:schemeClr val="dk1"/>
                </a:solidFill>
              </a:rPr>
              <a:t>FP, также FN (с приоритетом минимизации FP).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Чтобы минимизировать FP, нужно повысить recall_churn (полноту для класса "не продлит"):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   recall_churn = TN / (TN + FP)</a:t>
            </a:r>
            <a:endParaRPr sz="9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Чем выше recall_churn, тем меньше FP.</a:t>
            </a:r>
            <a:r>
              <a:rPr lang="en" sz="1100">
                <a:solidFill>
                  <a:srgbClr val="000000"/>
                </a:solidFill>
              </a:rPr>
              <a:t> </a:t>
            </a:r>
            <a:endParaRPr sz="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 Бизнесовая составляющая: </a:t>
            </a:r>
            <a:endParaRPr sz="1100" b="1">
              <a:solidFill>
                <a:srgbClr val="1C45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стоимость и expected value верных и неверных прогнозов.</a:t>
            </a:r>
            <a:endParaRPr b="1"/>
          </a:p>
        </p:txBody>
      </p:sp>
      <p:sp>
        <p:nvSpPr>
          <p:cNvPr id="109" name="Google Shape;109;p22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3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rgbClr val="000000"/>
                </a:solidFill>
              </a:rPr>
              <a:t>Стратегия оптимизации:</a:t>
            </a:r>
            <a:endParaRPr sz="10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</a:rPr>
              <a:t>   - Целевая метрика: EV_total - нам нужен плюсовой финансовый баланс, а не accuracy модели.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</a:rPr>
              <a:t>   - Приоритет: минимизировать FP (упущенные уходы).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</a:rPr>
              <a:t>   - Допустимо: увеличить FN (ложные срабатывания), потому что стоимость FN (-10000) меньше стоимости FP (-30000).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</a:rPr>
              <a:t>   - Выбор порога: тот, который максимизирует EV_total (балансируем FN и TN через подбор порога</a:t>
            </a:r>
            <a:r>
              <a:rPr lang="en" sz="1000" dirty="0">
                <a:solidFill>
                  <a:schemeClr val="dk1"/>
                </a:solidFill>
              </a:rPr>
              <a:t>)</a:t>
            </a:r>
            <a:r>
              <a:rPr lang="en" sz="1000" dirty="0">
                <a:solidFill>
                  <a:srgbClr val="000000"/>
                </a:solidFill>
              </a:rPr>
              <a:t>.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LogisticRegression(</a:t>
            </a:r>
            <a:endParaRPr sz="11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class_weight={0: 3, 1: 1},</a:t>
            </a:r>
            <a:endParaRPr sz="11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max_iter=2000,</a:t>
            </a:r>
            <a:endParaRPr sz="11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 dirty="0" smtClea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random_state=0</a:t>
            </a:r>
            <a:endParaRPr sz="11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r>
              <a:rPr lang="en" sz="1100" dirty="0">
                <a:solidFill>
                  <a:srgbClr val="000000"/>
                </a:solidFill>
              </a:rPr>
              <a:t> </a:t>
            </a:r>
            <a:endParaRPr sz="11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class_weight={0: 3, 1: 1}</a:t>
            </a:r>
            <a:r>
              <a:rPr lang="en" sz="1200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000" dirty="0">
                <a:solidFill>
                  <a:srgbClr val="000000"/>
                </a:solidFill>
              </a:rPr>
              <a:t>означает, что </a:t>
            </a:r>
            <a:r>
              <a:rPr lang="en" sz="1000" b="1" dirty="0">
                <a:solidFill>
                  <a:srgbClr val="000000"/>
                </a:solidFill>
              </a:rPr>
              <a:t>ошибка на классе 0 штрафуется в 3 раза сильнее</a:t>
            </a:r>
            <a:r>
              <a:rPr lang="en" sz="1000" dirty="0">
                <a:solidFill>
                  <a:srgbClr val="000000"/>
                </a:solidFill>
              </a:rPr>
              <a:t>, чем ошибка на классе 1. В логистической регрессии это заставляет модель сильнее стараться правильно находить класс 0. </a:t>
            </a:r>
            <a:endParaRPr sz="1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</a:rPr>
              <a:t>В формуле EV самая дорогая ошибка — это </a:t>
            </a:r>
            <a:r>
              <a:rPr lang="en" sz="1000" b="1" dirty="0">
                <a:solidFill>
                  <a:srgbClr val="000000"/>
                </a:solidFill>
              </a:rPr>
              <a:t>FP</a:t>
            </a:r>
            <a:r>
              <a:rPr lang="en" sz="1000" dirty="0">
                <a:solidFill>
                  <a:srgbClr val="000000"/>
                </a:solidFill>
              </a:rPr>
              <a:t>: клиент не продлил, а модель сказала, что продлит - поэтому модель надо смещать в сторону более агрессивного поиска класса 0.</a:t>
            </a:r>
            <a:endParaRPr sz="1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ctrTitle"/>
          </p:nvPr>
        </p:nvSpPr>
        <p:spPr>
          <a:xfrm>
            <a:off x="311700" y="221050"/>
            <a:ext cx="8520600" cy="69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Функция потерь.</a:t>
            </a:r>
            <a:endParaRPr b="1"/>
          </a:p>
        </p:txBody>
      </p:sp>
      <p:sp>
        <p:nvSpPr>
          <p:cNvPr id="115" name="Google Shape;115;p23"/>
          <p:cNvSpPr txBox="1">
            <a:spLocks noGrp="1"/>
          </p:cNvSpPr>
          <p:nvPr>
            <p:ph type="subTitle" idx="1"/>
          </p:nvPr>
        </p:nvSpPr>
        <p:spPr>
          <a:xfrm>
            <a:off x="311700" y="918250"/>
            <a:ext cx="8520600" cy="38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L = -[ w1 * y * log(p) + w0 * (1 - y) * log(1 - p) ]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eorgia"/>
              <a:buChar char="●"/>
            </a:pPr>
            <a:r>
              <a:rPr lang="en" sz="1000">
                <a:solidFill>
                  <a:srgbClr val="000000"/>
                </a:solidFill>
              </a:rPr>
              <a:t>w0 — вес класса 0,</a:t>
            </a:r>
            <a:endParaRPr sz="1000">
              <a:solidFill>
                <a:srgbClr val="000000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eorgia"/>
              <a:buChar char="●"/>
            </a:pPr>
            <a:r>
              <a:rPr lang="en" sz="1000">
                <a:solidFill>
                  <a:srgbClr val="000000"/>
                </a:solidFill>
              </a:rPr>
              <a:t>w1 — вес класса 1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class_weight={0: 3, 1: 1}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ctrTitle"/>
          </p:nvPr>
        </p:nvSpPr>
        <p:spPr>
          <a:xfrm>
            <a:off x="311700" y="340075"/>
            <a:ext cx="8520600" cy="58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Метрики качества.</a:t>
            </a:r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subTitle" idx="1"/>
          </p:nvPr>
        </p:nvSpPr>
        <p:spPr>
          <a:xfrm>
            <a:off x="311700" y="926575"/>
            <a:ext cx="8520600" cy="37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</a:rPr>
              <a:t>ROC AUC</a:t>
            </a:r>
            <a:r>
              <a:rPr lang="en" sz="1000">
                <a:solidFill>
                  <a:srgbClr val="000000"/>
                </a:solidFill>
              </a:rPr>
              <a:t> 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</a:rPr>
              <a:t>Recall для класса Subscribe = 0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ROC AUC </a:t>
            </a:r>
            <a:r>
              <a:rPr lang="en" sz="1000">
                <a:solidFill>
                  <a:srgbClr val="000000"/>
                </a:solidFill>
              </a:rPr>
              <a:t>показывает, насколько хорошо модель вообще ранжирует клиентов по риску, 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1"/>
                </a:solidFill>
              </a:rPr>
              <a:t>Recall для класса Subscribe = 0</a:t>
            </a:r>
            <a:r>
              <a:rPr lang="en" sz="1000">
                <a:solidFill>
                  <a:srgbClr val="000000"/>
                </a:solidFill>
              </a:rPr>
              <a:t> - насколько хорошо модель ловит тех, кто не продлит подписку.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000000"/>
                </a:solidFill>
              </a:rPr>
              <a:t>Почему именно они:</a:t>
            </a:r>
            <a:endParaRPr sz="1000" b="1">
              <a:solidFill>
                <a:srgbClr val="000000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eorgia"/>
              <a:buChar char="●"/>
            </a:pPr>
            <a:r>
              <a:rPr lang="en" sz="1000" b="1">
                <a:solidFill>
                  <a:srgbClr val="000000"/>
                </a:solidFill>
              </a:rPr>
              <a:t>ROC AUC</a:t>
            </a:r>
            <a:r>
              <a:rPr lang="en" sz="1000">
                <a:solidFill>
                  <a:srgbClr val="000000"/>
                </a:solidFill>
              </a:rPr>
              <a:t> подходит, потому что модель логистической регрессии выдаёт вероятности, и нам важно не только жёсткое предсказание, но и качество ранжирования клиентов по вероятности оттока.</a:t>
            </a:r>
            <a:endParaRPr sz="1000">
              <a:solidFill>
                <a:srgbClr val="000000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eorgia"/>
              <a:buChar char="●"/>
            </a:pPr>
            <a:r>
              <a:rPr lang="en" sz="1000" b="1">
                <a:solidFill>
                  <a:srgbClr val="000000"/>
                </a:solidFill>
              </a:rPr>
              <a:t>Recall для класса 0</a:t>
            </a:r>
            <a:r>
              <a:rPr lang="en" sz="1000">
                <a:solidFill>
                  <a:srgbClr val="000000"/>
                </a:solidFill>
              </a:rPr>
              <a:t> важен, потому что в задаче удержания дороже всего пропуск клиента, который не продлит.</a:t>
            </a:r>
            <a:endParaRPr sz="1000">
              <a:solidFill>
                <a:srgbClr val="000000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</a:rPr>
              <a:t>Accuracy здесь хуже подходит, потому что при дисбалансе классов она может быть высокой, даже если модель плохо ловит уходящих клиентов, и не сможет обеспечить положительный финансовый баланс.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ctrTitle"/>
          </p:nvPr>
        </p:nvSpPr>
        <p:spPr>
          <a:xfrm>
            <a:off x="311700" y="340075"/>
            <a:ext cx="8520600" cy="58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Повысить качество модели с учетом новых метрик</a:t>
            </a:r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ubTitle" idx="1"/>
          </p:nvPr>
        </p:nvSpPr>
        <p:spPr>
          <a:xfrm>
            <a:off x="311700" y="926575"/>
            <a:ext cx="8520600" cy="37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00"/>
                </a:solidFill>
              </a:rPr>
              <a:t>Чтобы </a:t>
            </a:r>
            <a:r>
              <a:rPr lang="en" sz="1100" b="1">
                <a:solidFill>
                  <a:srgbClr val="000000"/>
                </a:solidFill>
              </a:rPr>
              <a:t>повысить качество модели с учётом новых метрик</a:t>
            </a:r>
            <a:r>
              <a:rPr lang="en" sz="1100">
                <a:solidFill>
                  <a:srgbClr val="000000"/>
                </a:solidFill>
              </a:rPr>
              <a:t>, имеет смысл:</a:t>
            </a:r>
            <a:endParaRPr sz="1100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rabicPeriod"/>
            </a:pPr>
            <a:r>
              <a:rPr lang="en" sz="1100">
                <a:solidFill>
                  <a:srgbClr val="000000"/>
                </a:solidFill>
              </a:rPr>
              <a:t>оптимизировать не accuracy, а </a:t>
            </a:r>
            <a:r>
              <a:rPr lang="en" sz="1100" b="1">
                <a:solidFill>
                  <a:srgbClr val="000000"/>
                </a:solidFill>
              </a:rPr>
              <a:t>ROC AUC</a:t>
            </a:r>
            <a:r>
              <a:rPr lang="en" sz="1100">
                <a:solidFill>
                  <a:srgbClr val="000000"/>
                </a:solidFill>
              </a:rPr>
              <a:t> и </a:t>
            </a:r>
            <a:r>
              <a:rPr lang="en" sz="1100" b="1">
                <a:solidFill>
                  <a:srgbClr val="000000"/>
                </a:solidFill>
              </a:rPr>
              <a:t>Recall для класса Subscribe = 0</a:t>
            </a:r>
            <a:r>
              <a:rPr lang="en" sz="1100">
                <a:solidFill>
                  <a:srgbClr val="000000"/>
                </a:solidFill>
              </a:rPr>
              <a:t>,</a:t>
            </a:r>
            <a:endParaRPr sz="1100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rabicPeriod"/>
            </a:pPr>
            <a:r>
              <a:rPr lang="en" sz="1100">
                <a:solidFill>
                  <a:srgbClr val="000000"/>
                </a:solidFill>
              </a:rPr>
              <a:t>подобрать </a:t>
            </a:r>
            <a:r>
              <a:rPr lang="en" sz="1100" b="1">
                <a:solidFill>
                  <a:srgbClr val="000000"/>
                </a:solidFill>
              </a:rPr>
              <a:t>веса классов</a:t>
            </a:r>
            <a:r>
              <a:rPr lang="en" sz="1100">
                <a:solidFill>
                  <a:srgbClr val="000000"/>
                </a:solidFill>
              </a:rPr>
              <a:t> в LogisticRegression,</a:t>
            </a:r>
            <a:endParaRPr sz="1100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eorgia"/>
              <a:buAutoNum type="arabicPeriod"/>
            </a:pPr>
            <a:r>
              <a:rPr lang="en" sz="1100">
                <a:solidFill>
                  <a:srgbClr val="000000"/>
                </a:solidFill>
              </a:rPr>
              <a:t>затем найти </a:t>
            </a:r>
            <a:r>
              <a:rPr lang="en" sz="1100" b="1">
                <a:solidFill>
                  <a:srgbClr val="000000"/>
                </a:solidFill>
              </a:rPr>
              <a:t>лучший порог вероятности</a:t>
            </a:r>
            <a:r>
              <a:rPr lang="en" sz="1100">
                <a:solidFill>
                  <a:srgbClr val="000000"/>
                </a:solidFill>
              </a:rPr>
              <a:t> по бизнес-цели, а не по правилу 0.5</a:t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ctrTitle"/>
          </p:nvPr>
        </p:nvSpPr>
        <p:spPr>
          <a:xfrm>
            <a:off x="311700" y="340075"/>
            <a:ext cx="8520600" cy="58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Повысить качество модели с учетом новых метрик</a:t>
            </a:r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1"/>
          </p:nvPr>
        </p:nvSpPr>
        <p:spPr>
          <a:xfrm>
            <a:off x="311700" y="926575"/>
            <a:ext cx="8520600" cy="37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Georgia"/>
              <a:buAutoNum type="arabicPeriod"/>
            </a:pPr>
            <a:r>
              <a:rPr lang="en" sz="1000">
                <a:solidFill>
                  <a:srgbClr val="000000"/>
                </a:solidFill>
              </a:rPr>
              <a:t>Итерация1 - кейс “mission impossible”</a:t>
            </a:r>
            <a:endParaRPr sz="1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p_success = 0,35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R_retention = 30000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C_retention = 10000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EV_total = TN * 500 - FP * 30000 - FN * 10000</a:t>
            </a:r>
            <a:endParaRPr sz="1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Лучший порог по EV_total: 0.780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Максимальный EV_total: -69000.00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Confusion matrix at best threshold: TN=1582, FP=11, FN=53, TP=354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Recall class 0 at best threshold: 0.9930947897049592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(несмотря на то, что Recall_0 высокий, - примерно 7 случаев на 1000 мы классифицируем неверно, - цена этой ошибки настолько огромна, что не компенсируется мелкой выгодой от множества правильных кейсов классификации)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Вывод: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Модель хорошо ранжирует клиентов, но при заданных R_retention, C_retention и p_success экономика кампании всё ещё не сходится. 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При значениях p_success=0,35 (критическое значение 0,33, делающее оптимизацию невозможной) удержание убыточно - обеспечить положительный финансовый баланс, не получилось (ввиду непропорционально большой стоимости ошибочных классификаций относительно малой величины выгоды, полученной от удержаний клиентов).</a:t>
            </a:r>
            <a:endParaRPr sz="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ctrTitle"/>
          </p:nvPr>
        </p:nvSpPr>
        <p:spPr>
          <a:xfrm>
            <a:off x="311700" y="340075"/>
            <a:ext cx="8520600" cy="58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Повысить качество модели с учетом новых метрик</a:t>
            </a:r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subTitle" idx="1"/>
          </p:nvPr>
        </p:nvSpPr>
        <p:spPr>
          <a:xfrm>
            <a:off x="311700" y="926575"/>
            <a:ext cx="8520600" cy="37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2. Итерация2 - кейс с высокой выгодой</a:t>
            </a:r>
            <a:endParaRPr sz="1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p_success = 0,40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R_retention = 30000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C_retention = 5000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EV_total = TP * 7000 - FP * 5000 - FN * 30000</a:t>
            </a:r>
            <a:endParaRPr sz="1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Лучший порог по EV_total: 0.910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Максимальный EV_total: 2110000.00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Confusion matrix at best threshold: TN=1497, FP=96, FN=7, TP=400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Recall class 0 at best threshold: 0.9397363465160076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Вывод: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F1F1F"/>
                </a:solidFill>
                <a:highlight>
                  <a:srgbClr val="FFFFFF"/>
                </a:highlight>
              </a:rPr>
              <a:t>несмотря на ухудшившийся recall для класса 0, финансовая выгода (при этих экономических параметрах) значительна!</a:t>
            </a:r>
            <a:r>
              <a:rPr lang="en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ctrTitle"/>
          </p:nvPr>
        </p:nvSpPr>
        <p:spPr>
          <a:xfrm>
            <a:off x="311700" y="340075"/>
            <a:ext cx="8520600" cy="58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C45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(Опционально) откалибровать вероятности логистической регрессии</a:t>
            </a:r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subTitle" idx="1"/>
          </p:nvPr>
        </p:nvSpPr>
        <p:spPr>
          <a:xfrm>
            <a:off x="311700" y="926575"/>
            <a:ext cx="8520600" cy="37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8" title="calibration_curves_before_af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75" y="1018950"/>
            <a:ext cx="3573048" cy="357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to Colab:</a:t>
            </a:r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n-US">
                <a:hlinkClick r:id="rId3"/>
              </a:rPr>
              <a:t>https</a:t>
            </a:r>
            <a:r>
              <a:rPr lang="en-US">
                <a:hlinkClick r:id="rId3"/>
              </a:rPr>
              <a:t>://</a:t>
            </a:r>
            <a:r>
              <a:rPr lang="en-US" smtClean="0">
                <a:hlinkClick r:id="rId3"/>
              </a:rPr>
              <a:t>colab.research.google.com/drive/1YLyUMkToeXdyZDPIusSRqMf8kEF2osoi#scrollTo=Gs07nIT7KSNX</a:t>
            </a:r>
            <a:r>
              <a:rPr lang="en-US" smtClean="0"/>
              <a:t> </a:t>
            </a:r>
            <a:r>
              <a:rPr lang="en" smtClean="0"/>
              <a:t>- </a:t>
            </a:r>
            <a:r>
              <a:rPr lang="en" dirty="0"/>
              <a:t>HW4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1949</Words>
  <Application>Microsoft Office PowerPoint</Application>
  <PresentationFormat>On-screen Show (16:9)</PresentationFormat>
  <Paragraphs>261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Courier New</vt:lpstr>
      <vt:lpstr>JetBrains Mono</vt:lpstr>
      <vt:lpstr>Georgia</vt:lpstr>
      <vt:lpstr>Arial</vt:lpstr>
      <vt:lpstr>Simple Light</vt:lpstr>
      <vt:lpstr>Онлайн-курс по Machine Learning,  Causal Inference и продвинутой проверке гипотез   HW4</vt:lpstr>
      <vt:lpstr>Задание 1:  0. Подумайте над бизнесовой составляющей: стоимости и expected value верных и неверных прогнозов. Выразите это в оптимизации моделей и обоснуйте.  1. Подумайте над функцией потерь. Обоснуйте, почему именно она  2. Определите метрики качества. Обоснуйте, почему именно они  3. Попробуйте повысить качество модели с учетом новых метрик  4. (Опционально) Попробуйте откалибровать вероятности логистической регрессии </vt:lpstr>
      <vt:lpstr>0. Бизнесовая составляющая:  стоимость и expected value верных и неверных прогнозов.</vt:lpstr>
      <vt:lpstr>0. Бизнесовая составляющая:  стоимость и expected value верных и неверных прогнозов.</vt:lpstr>
      <vt:lpstr>0. Бизнесовая составляющая:  стоимость и expected value верных и неверных прогнозов.</vt:lpstr>
      <vt:lpstr>0. Бизнесовая составляющая:  стоимость и expected value верных и неверных прогнозов.</vt:lpstr>
      <vt:lpstr>0. Бизнесовая составляющая:  стоимость и expected value верных и неверных прогнозов.</vt:lpstr>
      <vt:lpstr>0. Бизнесовая составляющая:  стоимость и expected value верных и неверных прогнозов.</vt:lpstr>
      <vt:lpstr>0. Бизнесовая составляющая:  стоимость и expected value верных и неверных прогнозов.</vt:lpstr>
      <vt:lpstr>0. Бизнесовая составляющая:  стоимость и expected value верных и неверных прогнозов.</vt:lpstr>
      <vt:lpstr>1. Функция потерь.</vt:lpstr>
      <vt:lpstr>2. Метрики качества.</vt:lpstr>
      <vt:lpstr>3. Повысить качество модели с учетом новых метрик</vt:lpstr>
      <vt:lpstr>3. Повысить качество модели с учетом новых метрик</vt:lpstr>
      <vt:lpstr>3. Повысить качество модели с учетом новых метрик</vt:lpstr>
      <vt:lpstr>4. (Опционально) откалибровать вероятности логистической регрессии</vt:lpstr>
      <vt:lpstr>Links to Colab: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Онлайн-курс по Machine Learning,  Causal Inference и продвинутой проверке гипотез   HW4</dc:title>
  <dc:creator>NT</dc:creator>
  <cp:lastModifiedBy>NT</cp:lastModifiedBy>
  <cp:revision>4</cp:revision>
  <dcterms:modified xsi:type="dcterms:W3CDTF">2026-06-23T07:19:37Z</dcterms:modified>
</cp:coreProperties>
</file>